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Playfair Display ExtraBold"/>
      <p:bold r:id="rId14"/>
      <p:boldItalic r:id="rId15"/>
    </p:embeddedFont>
    <p:embeddedFont>
      <p:font typeface="Lexend"/>
      <p:regular r:id="rId16"/>
      <p:bold r:id="rId17"/>
    </p:embeddedFont>
    <p:embeddedFont>
      <p:font typeface="Oswald"/>
      <p:regular r:id="rId18"/>
      <p:bold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layfairDisplayExtraBold-boldItalic.fntdata"/><Relationship Id="rId14" Type="http://schemas.openxmlformats.org/officeDocument/2006/relationships/font" Target="fonts/PlayfairDisplayExtraBold-bold.fntdata"/><Relationship Id="rId17" Type="http://schemas.openxmlformats.org/officeDocument/2006/relationships/font" Target="fonts/Lexend-bold.fntdata"/><Relationship Id="rId16" Type="http://schemas.openxmlformats.org/officeDocument/2006/relationships/font" Target="fonts/Lexend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Oswald-bold.fntdata"/><Relationship Id="rId6" Type="http://schemas.openxmlformats.org/officeDocument/2006/relationships/slide" Target="slides/slide1.xml"/><Relationship Id="rId18" Type="http://schemas.openxmlformats.org/officeDocument/2006/relationships/font" Target="fonts/Oswald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f241747480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f241747480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f24174748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f24174748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f24174748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f24174748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f241747480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f241747480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f241747480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f241747480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f241747480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f241747480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f241747480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f241747480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gif"/><Relationship Id="rId4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890100" y="394150"/>
            <a:ext cx="7146900" cy="1364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type="title"/>
          </p:nvPr>
        </p:nvSpPr>
        <p:spPr>
          <a:xfrm>
            <a:off x="311700" y="394150"/>
            <a:ext cx="8520600" cy="406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33"/>
              <a:t>Reimagining [Local Boutique] website</a:t>
            </a:r>
            <a:r>
              <a:rPr lang="en" sz="3133"/>
              <a:t> </a:t>
            </a:r>
            <a:r>
              <a:rPr lang="en"/>
              <a:t>-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An Usability Analysis for a Fashion Destination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40909"/>
              <a:buFont typeface="Arial"/>
              <a:buNone/>
            </a:pPr>
            <a:r>
              <a:rPr lang="en"/>
              <a:t>Name       ; </a:t>
            </a:r>
            <a:r>
              <a:rPr lang="en" sz="2689"/>
              <a:t> KAARNIKA RACHEAL S</a:t>
            </a:r>
            <a:endParaRPr sz="2689"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Course/Subject   ; UI /UX  INTERNSHIP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idx="1" type="subTitle"/>
          </p:nvPr>
        </p:nvSpPr>
        <p:spPr>
          <a:xfrm>
            <a:off x="420000" y="267400"/>
            <a:ext cx="4076100" cy="467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latin typeface="Impact"/>
                <a:ea typeface="Impact"/>
                <a:cs typeface="Impact"/>
                <a:sym typeface="Impact"/>
              </a:rPr>
              <a:t>Importance of an E-commerce Website</a:t>
            </a:r>
            <a:endParaRPr>
              <a:latin typeface="Impact"/>
              <a:ea typeface="Impact"/>
              <a:cs typeface="Impact"/>
              <a:sym typeface="Impact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 </a:t>
            </a:r>
            <a:endParaRPr/>
          </a:p>
          <a:p>
            <a:pPr indent="-339725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Digital storefront for the business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 </a:t>
            </a:r>
            <a:endParaRPr/>
          </a:p>
          <a:p>
            <a:pPr indent="-339725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Helps customers browse and shop online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39725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Builds brand credibility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 </a:t>
            </a:r>
            <a:endParaRPr/>
          </a:p>
          <a:p>
            <a:pPr indent="-339725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Increases sales opportunities</a:t>
            </a:r>
            <a:endParaRPr/>
          </a:p>
          <a:p>
            <a:pPr indent="0" lvl="0" marL="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 txBox="1"/>
          <p:nvPr/>
        </p:nvSpPr>
        <p:spPr>
          <a:xfrm>
            <a:off x="4831675" y="329200"/>
            <a:ext cx="4017300" cy="43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     About [Local</a:t>
            </a:r>
            <a:r>
              <a:rPr lang="en" sz="1800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 Boutique]</a:t>
            </a:r>
            <a:endParaRPr sz="1800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Local fashion retailer selling clothing and accessories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Uses its website to showcase products and attract customers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Important platform for online shopping and marketing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2" name="Google Shape;62;p14"/>
          <p:cNvSpPr/>
          <p:nvPr/>
        </p:nvSpPr>
        <p:spPr>
          <a:xfrm>
            <a:off x="121275" y="232800"/>
            <a:ext cx="4450800" cy="4677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/>
          <p:cNvSpPr/>
          <p:nvPr/>
        </p:nvSpPr>
        <p:spPr>
          <a:xfrm>
            <a:off x="4831675" y="227500"/>
            <a:ext cx="4179900" cy="4569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353025"/>
            <a:ext cx="3653700" cy="45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756">
                <a:latin typeface="Impact"/>
                <a:ea typeface="Impact"/>
                <a:cs typeface="Impact"/>
                <a:sym typeface="Impact"/>
              </a:rPr>
              <a:t>Existing Problems</a:t>
            </a:r>
            <a:endParaRPr sz="2756">
              <a:latin typeface="Impact"/>
              <a:ea typeface="Impact"/>
              <a:cs typeface="Impact"/>
              <a:sym typeface="Impact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</a:t>
            </a:r>
            <a:endParaRPr/>
          </a:p>
          <a:p>
            <a:pPr indent="-342900" lvl="0" marL="457200" rtl="0" algn="l">
              <a:spcBef>
                <a:spcPts val="800"/>
              </a:spcBef>
              <a:spcAft>
                <a:spcPts val="0"/>
              </a:spcAft>
              <a:buSzPts val="1800"/>
              <a:buChar char="➢"/>
            </a:pPr>
            <a:r>
              <a:rPr lang="en"/>
              <a:t>Key Usability Issues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en"/>
              <a:t>Cluttered homepage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en"/>
              <a:t>Confusing navigation menu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en"/>
              <a:t>Unclear product descriptions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en"/>
              <a:t>Poor product organization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en"/>
              <a:t>Difficult checkout process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en"/>
              <a:t>Limited mobile responsiveness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5"/>
          <p:cNvSpPr txBox="1"/>
          <p:nvPr/>
        </p:nvSpPr>
        <p:spPr>
          <a:xfrm>
            <a:off x="4420150" y="353025"/>
            <a:ext cx="4331400" cy="28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Impact on Users</a:t>
            </a:r>
            <a:endParaRPr sz="2100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800"/>
              <a:buChar char="➢"/>
            </a:pPr>
            <a:r>
              <a:rPr lang="en" sz="1800">
                <a:solidFill>
                  <a:schemeClr val="dk2"/>
                </a:solidFill>
              </a:rPr>
              <a:t>Hard to find products 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➢"/>
            </a:pPr>
            <a:r>
              <a:rPr lang="en" sz="1800">
                <a:solidFill>
                  <a:schemeClr val="dk2"/>
                </a:solidFill>
              </a:rPr>
              <a:t>Frustrating shopping experience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➢"/>
            </a:pPr>
            <a:r>
              <a:rPr lang="en" sz="1800">
                <a:solidFill>
                  <a:schemeClr val="dk2"/>
                </a:solidFill>
              </a:rPr>
              <a:t>Increased cart abandonment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3">
            <a:alphaModFix amt="90000"/>
          </a:blip>
          <a:stretch>
            <a:fillRect/>
          </a:stretch>
        </p:blipFill>
        <p:spPr>
          <a:xfrm>
            <a:off x="4723000" y="2571750"/>
            <a:ext cx="3314700" cy="2228850"/>
          </a:xfrm>
          <a:prstGeom prst="rect">
            <a:avLst/>
          </a:prstGeom>
          <a:noFill/>
          <a:ln>
            <a:noFill/>
          </a:ln>
          <a:effectLst>
            <a:outerShdw blurRad="628650" rotWithShape="0" algn="bl" dir="21540000" dist="152400">
              <a:srgbClr val="000000">
                <a:alpha val="44999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exend"/>
                <a:ea typeface="Lexend"/>
                <a:cs typeface="Lexend"/>
                <a:sym typeface="Lexend"/>
              </a:rPr>
              <a:t>Heuristic</a:t>
            </a:r>
            <a:r>
              <a:rPr b="1" lang="en" sz="2300">
                <a:latin typeface="Lexend"/>
                <a:ea typeface="Lexend"/>
                <a:cs typeface="Lexend"/>
                <a:sym typeface="Lexend"/>
              </a:rPr>
              <a:t> </a:t>
            </a:r>
            <a:endParaRPr b="1"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Visibility of System Status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Consistency &amp; Standards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Recognition Rather Than Recall    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Error Prevention	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Aesthetic &amp; Minimalist Design</a:t>
            </a:r>
            <a:endParaRPr sz="14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400">
                <a:solidFill>
                  <a:schemeClr val="dk1"/>
                </a:solidFill>
              </a:rPr>
              <a:t>Help &amp; Documentation		</a:t>
            </a:r>
            <a:r>
              <a:rPr lang="en" sz="1300">
                <a:solidFill>
                  <a:schemeClr val="dk1"/>
                </a:solidFill>
              </a:rPr>
              <a:t> </a:t>
            </a:r>
            <a:r>
              <a:rPr lang="en" sz="1400"/>
              <a:t>	</a:t>
            </a:r>
            <a:endParaRPr sz="1400"/>
          </a:p>
        </p:txBody>
      </p:sp>
      <p:sp>
        <p:nvSpPr>
          <p:cNvPr id="77" name="Google Shape;77;p16"/>
          <p:cNvSpPr txBox="1"/>
          <p:nvPr/>
        </p:nvSpPr>
        <p:spPr>
          <a:xfrm>
            <a:off x="4853300" y="1389600"/>
            <a:ext cx="3140400" cy="21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No loading feedback</a:t>
            </a:r>
            <a:endParaRPr>
              <a:solidFill>
                <a:schemeClr val="dk2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Inconsistent buttons</a:t>
            </a:r>
            <a:endParaRPr sz="15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Hidden navigation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Weak form validation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Overcrowded layout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No support section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8" name="Google Shape;78;p16"/>
          <p:cNvSpPr txBox="1"/>
          <p:nvPr/>
        </p:nvSpPr>
        <p:spPr>
          <a:xfrm>
            <a:off x="5221475" y="816475"/>
            <a:ext cx="3939300" cy="9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Problem Identified</a:t>
            </a:r>
            <a:endParaRPr b="1" sz="20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9" name="Google Shape;79;p16"/>
          <p:cNvSpPr/>
          <p:nvPr/>
        </p:nvSpPr>
        <p:spPr>
          <a:xfrm>
            <a:off x="456975" y="3621025"/>
            <a:ext cx="8002200" cy="1158600"/>
          </a:xfrm>
          <a:prstGeom prst="parallelogram">
            <a:avLst>
              <a:gd fmla="val 25000" name="adj"/>
            </a:avLst>
          </a:prstGeom>
          <a:solidFill>
            <a:srgbClr val="CFE2F3"/>
          </a:solidFill>
          <a:ln cap="flat" cmpd="sng" w="9525">
            <a:solidFill>
              <a:srgbClr val="C9DA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6"/>
          <p:cNvSpPr txBox="1"/>
          <p:nvPr/>
        </p:nvSpPr>
        <p:spPr>
          <a:xfrm>
            <a:off x="944250" y="3837600"/>
            <a:ext cx="33135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Finding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 </a:t>
            </a:r>
            <a:endParaRPr sz="2000">
              <a:solidFill>
                <a:schemeClr val="dk2"/>
              </a:solidFill>
            </a:endParaRPr>
          </a:p>
        </p:txBody>
      </p:sp>
      <p:sp>
        <p:nvSpPr>
          <p:cNvPr id="81" name="Google Shape;81;p16"/>
          <p:cNvSpPr txBox="1"/>
          <p:nvPr/>
        </p:nvSpPr>
        <p:spPr>
          <a:xfrm>
            <a:off x="944250" y="3837600"/>
            <a:ext cx="6540600" cy="10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website does not provide a smooth and intuitive user experience</a:t>
            </a:r>
            <a:r>
              <a:rPr lang="en" sz="1300">
                <a:solidFill>
                  <a:schemeClr val="dk1"/>
                </a:solidFill>
              </a:rPr>
              <a:t> </a:t>
            </a:r>
            <a:endParaRPr sz="2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2" name="Google Shape;82;p16"/>
          <p:cNvSpPr txBox="1"/>
          <p:nvPr/>
        </p:nvSpPr>
        <p:spPr>
          <a:xfrm>
            <a:off x="1940450" y="165900"/>
            <a:ext cx="5360100" cy="3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 u="sng">
                <a:solidFill>
                  <a:schemeClr val="accent3"/>
                </a:solidFill>
                <a:latin typeface="Impact"/>
                <a:ea typeface="Impact"/>
                <a:cs typeface="Impact"/>
                <a:sym typeface="Impact"/>
              </a:rPr>
              <a:t>Heuristic Evaluation (Nielsen's Heuristics)</a:t>
            </a:r>
            <a:r>
              <a:rPr b="1" lang="en" sz="1800" u="sng">
                <a:solidFill>
                  <a:schemeClr val="accent3"/>
                </a:solidFill>
                <a:latin typeface="Impact"/>
                <a:ea typeface="Impact"/>
                <a:cs typeface="Impact"/>
                <a:sym typeface="Impact"/>
              </a:rPr>
              <a:t> </a:t>
            </a:r>
            <a:endParaRPr b="1" sz="2500" u="sng">
              <a:solidFill>
                <a:schemeClr val="accent3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b="1" lang="en" u="sng">
                <a:solidFill>
                  <a:schemeClr val="accent3"/>
                </a:solidFill>
                <a:latin typeface="Impact"/>
                <a:ea typeface="Impact"/>
                <a:cs typeface="Impact"/>
                <a:sym typeface="Impact"/>
              </a:rPr>
              <a:t>Recommended Improvements</a:t>
            </a:r>
            <a:endParaRPr b="1" u="sng">
              <a:solidFill>
                <a:schemeClr val="accent3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88" name="Google Shape;88;p17"/>
          <p:cNvSpPr txBox="1"/>
          <p:nvPr>
            <p:ph idx="1" type="body"/>
          </p:nvPr>
        </p:nvSpPr>
        <p:spPr>
          <a:xfrm>
            <a:off x="88800" y="1271600"/>
            <a:ext cx="8911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29"/>
              <a:t>✅ Simplify navigation  </a:t>
            </a:r>
            <a:r>
              <a:rPr lang="en"/>
              <a:t>                               </a:t>
            </a:r>
            <a:r>
              <a:rPr lang="en"/>
              <a:t>✅ Add search and filter options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✅ Streamline checkout process                    ✅ Create mobile-friendly layouts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 ✅ Organize products into clear categories   ✅ Improve product descriptions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                          </a:t>
            </a:r>
            <a:r>
              <a:rPr lang="en"/>
              <a:t> ✅ Add customer support section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type="title"/>
          </p:nvPr>
        </p:nvSpPr>
        <p:spPr>
          <a:xfrm>
            <a:off x="430800" y="1325400"/>
            <a:ext cx="2592600" cy="56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2220">
                <a:latin typeface="Oswald"/>
                <a:ea typeface="Oswald"/>
                <a:cs typeface="Oswald"/>
                <a:sym typeface="Oswald"/>
              </a:rPr>
              <a:t>Homepage Wireframe</a:t>
            </a:r>
            <a:endParaRPr sz="2220"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220"/>
          </a:p>
        </p:txBody>
      </p:sp>
      <p:sp>
        <p:nvSpPr>
          <p:cNvPr id="94" name="Google Shape;94;p18"/>
          <p:cNvSpPr txBox="1"/>
          <p:nvPr>
            <p:ph idx="1" type="body"/>
          </p:nvPr>
        </p:nvSpPr>
        <p:spPr>
          <a:xfrm>
            <a:off x="311700" y="1845175"/>
            <a:ext cx="3718800" cy="294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" sz="1385">
                <a:latin typeface="Lexend"/>
                <a:ea typeface="Lexend"/>
                <a:cs typeface="Lexend"/>
                <a:sym typeface="Lexend"/>
              </a:rPr>
              <a:t>LOGO | SEARCH | CART</a:t>
            </a:r>
            <a:endParaRPr sz="1385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" sz="1385">
                <a:latin typeface="Lexend"/>
                <a:ea typeface="Lexend"/>
                <a:cs typeface="Lexend"/>
                <a:sym typeface="Lexend"/>
              </a:rPr>
              <a:t>HOME | WOMEN | MEN | SALE | CONTACT</a:t>
            </a:r>
            <a:endParaRPr sz="1385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" sz="1385">
                <a:latin typeface="Lexend"/>
                <a:ea typeface="Lexend"/>
                <a:cs typeface="Lexend"/>
                <a:sym typeface="Lexend"/>
              </a:rPr>
              <a:t>HERO BANNER</a:t>
            </a:r>
            <a:endParaRPr sz="1385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" sz="1385">
                <a:latin typeface="Lexend"/>
                <a:ea typeface="Lexend"/>
                <a:cs typeface="Lexend"/>
                <a:sym typeface="Lexend"/>
              </a:rPr>
              <a:t>FEATURED PRODUCTS</a:t>
            </a:r>
            <a:endParaRPr sz="1385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" sz="1385">
                <a:latin typeface="Lexend"/>
                <a:ea typeface="Lexend"/>
                <a:cs typeface="Lexend"/>
                <a:sym typeface="Lexend"/>
              </a:rPr>
              <a:t>BEST SELLERS</a:t>
            </a:r>
            <a:endParaRPr sz="1385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" sz="1385">
                <a:latin typeface="Lexend"/>
                <a:ea typeface="Lexend"/>
                <a:cs typeface="Lexend"/>
                <a:sym typeface="Lexend"/>
              </a:rPr>
              <a:t>CUSTOMER REVIEWS</a:t>
            </a:r>
            <a:endParaRPr sz="1385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" sz="1385">
                <a:latin typeface="Lexend"/>
                <a:ea typeface="Lexend"/>
                <a:cs typeface="Lexend"/>
                <a:sym typeface="Lexend"/>
              </a:rPr>
              <a:t>FOOTER</a:t>
            </a:r>
            <a:endParaRPr sz="1385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358"/>
              <a:buNone/>
            </a:pPr>
            <a:r>
              <a:t/>
            </a:r>
            <a:endParaRPr sz="585"/>
          </a:p>
        </p:txBody>
      </p:sp>
      <p:sp>
        <p:nvSpPr>
          <p:cNvPr id="95" name="Google Shape;95;p18"/>
          <p:cNvSpPr/>
          <p:nvPr/>
        </p:nvSpPr>
        <p:spPr>
          <a:xfrm>
            <a:off x="348675" y="1801850"/>
            <a:ext cx="3681900" cy="28911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8"/>
          <p:cNvSpPr/>
          <p:nvPr/>
        </p:nvSpPr>
        <p:spPr>
          <a:xfrm>
            <a:off x="4701700" y="1791025"/>
            <a:ext cx="4223100" cy="29454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8"/>
          <p:cNvSpPr txBox="1"/>
          <p:nvPr/>
        </p:nvSpPr>
        <p:spPr>
          <a:xfrm>
            <a:off x="5026550" y="1888500"/>
            <a:ext cx="3441300" cy="28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  <a:t>PRODUCT IMAGE | PRODUCT DETAILS</a:t>
            </a:r>
            <a:endParaRPr sz="1700">
              <a:solidFill>
                <a:schemeClr val="dk2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  <a:t>DESCRIPTION</a:t>
            </a:r>
            <a:endParaRPr sz="1700">
              <a:solidFill>
                <a:schemeClr val="dk2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  <a:t>ADD TO CART</a:t>
            </a:r>
            <a:endParaRPr sz="1700">
              <a:solidFill>
                <a:schemeClr val="dk2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  <a:t>RELATED PRODUCTS</a:t>
            </a:r>
            <a:endParaRPr sz="1700">
              <a:solidFill>
                <a:schemeClr val="dk2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700">
              <a:solidFill>
                <a:schemeClr val="dk2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  <a:t>REVIEWS</a:t>
            </a:r>
            <a:endParaRPr sz="1700">
              <a:solidFill>
                <a:schemeClr val="dk2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</a:endParaRPr>
          </a:p>
        </p:txBody>
      </p:sp>
      <p:sp>
        <p:nvSpPr>
          <p:cNvPr id="98" name="Google Shape;98;p18"/>
          <p:cNvSpPr txBox="1"/>
          <p:nvPr/>
        </p:nvSpPr>
        <p:spPr>
          <a:xfrm>
            <a:off x="4712525" y="1249600"/>
            <a:ext cx="3194400" cy="4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Product Page Wireframe</a:t>
            </a:r>
            <a:endParaRPr sz="20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99" name="Google Shape;99;p18"/>
          <p:cNvSpPr txBox="1"/>
          <p:nvPr/>
        </p:nvSpPr>
        <p:spPr>
          <a:xfrm>
            <a:off x="1756375" y="253375"/>
            <a:ext cx="5230200" cy="8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 u="sng">
                <a:solidFill>
                  <a:schemeClr val="accent3"/>
                </a:solidFill>
              </a:rPr>
              <a:t>Wireframes (Redesigned Layout)</a:t>
            </a:r>
            <a:r>
              <a:rPr b="1" lang="en" sz="2400" u="sng">
                <a:solidFill>
                  <a:schemeClr val="accent3"/>
                </a:solidFill>
              </a:rPr>
              <a:t> </a:t>
            </a:r>
            <a:endParaRPr b="1" sz="3100" u="sng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b="1" lang="en" u="sng">
                <a:solidFill>
                  <a:schemeClr val="accent3"/>
                </a:solidFill>
                <a:latin typeface="Comic Sans MS"/>
                <a:ea typeface="Comic Sans MS"/>
                <a:cs typeface="Comic Sans MS"/>
                <a:sym typeface="Comic Sans MS"/>
              </a:rPr>
              <a:t>Expected Benefits</a:t>
            </a:r>
            <a:endParaRPr b="1" u="sng">
              <a:solidFill>
                <a:schemeClr val="accent3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9"/>
          <p:cNvSpPr txBox="1"/>
          <p:nvPr>
            <p:ph idx="1" type="body"/>
          </p:nvPr>
        </p:nvSpPr>
        <p:spPr>
          <a:xfrm>
            <a:off x="2871700" y="1130800"/>
            <a:ext cx="2360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3448"/>
              <a:buFont typeface="Arial"/>
              <a:buNone/>
            </a:pPr>
            <a:r>
              <a:rPr lang="en" sz="2058"/>
              <a:t> </a:t>
            </a:r>
            <a:r>
              <a:rPr b="1" lang="en" sz="2382">
                <a:latin typeface="Oswald"/>
                <a:ea typeface="Oswald"/>
                <a:cs typeface="Oswald"/>
                <a:sym typeface="Oswald"/>
              </a:rPr>
              <a:t>For Customers</a:t>
            </a:r>
            <a:endParaRPr b="1" sz="2382"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</a:t>
            </a:r>
            <a:endParaRPr/>
          </a:p>
          <a:p>
            <a:pPr indent="-335112" lvl="0" marL="457200" rtl="0" algn="l">
              <a:spcBef>
                <a:spcPts val="800"/>
              </a:spcBef>
              <a:spcAft>
                <a:spcPts val="0"/>
              </a:spcAft>
              <a:buSzPct val="100000"/>
              <a:buChar char="●"/>
            </a:pPr>
            <a:r>
              <a:rPr lang="en" sz="2164"/>
              <a:t>Easier navigation</a:t>
            </a:r>
            <a:endParaRPr sz="2164"/>
          </a:p>
          <a:p>
            <a:pPr indent="0" lvl="0" marL="4572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2164"/>
              <a:t> </a:t>
            </a:r>
            <a:endParaRPr sz="2164"/>
          </a:p>
          <a:p>
            <a:pPr indent="-335112" lvl="0" marL="457200" rtl="0" algn="l">
              <a:spcBef>
                <a:spcPts val="800"/>
              </a:spcBef>
              <a:spcAft>
                <a:spcPts val="0"/>
              </a:spcAft>
              <a:buSzPct val="100000"/>
              <a:buChar char="●"/>
            </a:pPr>
            <a:r>
              <a:rPr lang="en" sz="2164"/>
              <a:t>Faster product discovery</a:t>
            </a:r>
            <a:endParaRPr sz="2164"/>
          </a:p>
          <a:p>
            <a:pPr indent="0" lvl="0" marL="4572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2164"/>
              <a:t> </a:t>
            </a:r>
            <a:endParaRPr sz="2164"/>
          </a:p>
          <a:p>
            <a:pPr indent="-335112" lvl="0" marL="457200" rtl="0" algn="l">
              <a:spcBef>
                <a:spcPts val="800"/>
              </a:spcBef>
              <a:spcAft>
                <a:spcPts val="0"/>
              </a:spcAft>
              <a:buSzPct val="100000"/>
              <a:buChar char="●"/>
            </a:pPr>
            <a:r>
              <a:rPr lang="en" sz="2164"/>
              <a:t>Better shopping experience</a:t>
            </a:r>
            <a:endParaRPr sz="2164"/>
          </a:p>
          <a:p>
            <a:pPr indent="0" lvl="0" marL="457200" rtl="0" algn="l">
              <a:spcBef>
                <a:spcPts val="800"/>
              </a:spcBef>
              <a:spcAft>
                <a:spcPts val="1200"/>
              </a:spcAft>
              <a:buNone/>
            </a:pPr>
            <a:r>
              <a:t/>
            </a:r>
            <a:endParaRPr sz="2164"/>
          </a:p>
        </p:txBody>
      </p:sp>
      <p:sp>
        <p:nvSpPr>
          <p:cNvPr id="106" name="Google Shape;106;p19"/>
          <p:cNvSpPr txBox="1"/>
          <p:nvPr/>
        </p:nvSpPr>
        <p:spPr>
          <a:xfrm>
            <a:off x="5416350" y="1130800"/>
            <a:ext cx="4038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  <a:t>For Business</a:t>
            </a:r>
            <a:endParaRPr b="1" sz="1900">
              <a:solidFill>
                <a:schemeClr val="dk2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2"/>
                </a:solidFill>
              </a:rPr>
              <a:t> </a:t>
            </a:r>
            <a:endParaRPr sz="1300">
              <a:solidFill>
                <a:schemeClr val="dk2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n" sz="1500">
                <a:solidFill>
                  <a:schemeClr val="dk2"/>
                </a:solidFill>
              </a:rPr>
              <a:t>Increased sales</a:t>
            </a:r>
            <a:endParaRPr sz="15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 </a:t>
            </a:r>
            <a:endParaRPr sz="1500">
              <a:solidFill>
                <a:schemeClr val="dk2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n" sz="1500">
                <a:solidFill>
                  <a:schemeClr val="dk2"/>
                </a:solidFill>
              </a:rPr>
              <a:t>Higher customer satisfaction</a:t>
            </a:r>
            <a:endParaRPr sz="15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 </a:t>
            </a:r>
            <a:endParaRPr sz="1500">
              <a:solidFill>
                <a:schemeClr val="dk2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n" sz="1500">
                <a:solidFill>
                  <a:schemeClr val="dk2"/>
                </a:solidFill>
              </a:rPr>
              <a:t>Reduced cart abandonment </a:t>
            </a:r>
            <a:endParaRPr sz="15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n" sz="1500">
                <a:solidFill>
                  <a:schemeClr val="dk2"/>
                </a:solidFill>
              </a:rPr>
              <a:t>Improved brand reputation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107" name="Google Shape;10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450" y="945650"/>
            <a:ext cx="2892550" cy="3252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8400000" dist="114300">
              <a:srgbClr val="000000">
                <a:alpha val="6000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b="1" lang="en" u="sng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rPr>
              <a:t>Final Statement</a:t>
            </a:r>
            <a:endParaRPr b="1" u="sng">
              <a:solidFill>
                <a:schemeClr val="accent3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20"/>
          <p:cNvSpPr txBox="1"/>
          <p:nvPr>
            <p:ph idx="1" type="body"/>
          </p:nvPr>
        </p:nvSpPr>
        <p:spPr>
          <a:xfrm>
            <a:off x="376675" y="1017725"/>
            <a:ext cx="8520600" cy="388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latin typeface="Georgia"/>
                <a:ea typeface="Georgia"/>
                <a:cs typeface="Georgia"/>
                <a:sym typeface="Georgia"/>
              </a:rPr>
              <a:t>By applying usability principles and redesigning key areas of the website, Local Boutique can create a more engaging shopping experience that drives customer satisfaction and business growth. 🚀</a:t>
            </a:r>
            <a:endParaRPr sz="20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800"/>
              </a:spcBef>
              <a:spcAft>
                <a:spcPts val="1200"/>
              </a:spcAft>
              <a:buNone/>
            </a:pPr>
            <a:r>
              <a:t/>
            </a:r>
            <a:endParaRPr sz="20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14" name="Google Shape;114;p20"/>
          <p:cNvSpPr/>
          <p:nvPr/>
        </p:nvSpPr>
        <p:spPr>
          <a:xfrm>
            <a:off x="381150" y="1065525"/>
            <a:ext cx="8451300" cy="12561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20"/>
          <p:cNvSpPr txBox="1"/>
          <p:nvPr/>
        </p:nvSpPr>
        <p:spPr>
          <a:xfrm>
            <a:off x="1171625" y="2928000"/>
            <a:ext cx="6778500" cy="19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dk2"/>
                </a:solidFill>
                <a:latin typeface="Playfair Display ExtraBold"/>
                <a:ea typeface="Playfair Display ExtraBold"/>
                <a:cs typeface="Playfair Display ExtraBold"/>
                <a:sym typeface="Playfair Display ExtraBold"/>
              </a:rPr>
              <a:t>THANK YOU</a:t>
            </a:r>
            <a:endParaRPr sz="3400">
              <a:solidFill>
                <a:schemeClr val="dk2"/>
              </a:solidFill>
              <a:latin typeface="Playfair Display ExtraBold"/>
              <a:ea typeface="Playfair Display ExtraBold"/>
              <a:cs typeface="Playfair Display ExtraBold"/>
              <a:sym typeface="Playfair Display ExtraBold"/>
            </a:endParaRPr>
          </a:p>
        </p:txBody>
      </p:sp>
      <p:pic>
        <p:nvPicPr>
          <p:cNvPr descr="a yellow hand giving a thumbs up sign (Provided by Tenor)" id="116" name="Google Shape;11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35200" y="2517625"/>
            <a:ext cx="963875" cy="106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47313" y="2571738"/>
            <a:ext cx="2333625" cy="2314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